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65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Olá. Este trabalho apoia uma decisão de negócio real: um **hospital privado de Natal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 se credenciar ao SUS** para ofertar internações. Antes de investir, a direção quer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entender como se comporta um hospital público de referência já credenciado — o **HUOL,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UFRN**. Para isso, integrei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**dados estruturados**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(internações do SUS) e **não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estruturados** (comentários do Instagram) num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Lake**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montei 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Warehouse**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gerei os insights que embasam a decisão de expansão.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Olá. Este trabalho apoia uma decisão de negócio real: um **hospital privado de Natal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 se credenciar ao SUS** para ofertar internações. Antes de investir, a direção quer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entender como se comporta um hospital público de referência já credenciado — o **HUOL,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UFRN**. Para isso, integrei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**dados estruturados**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(internações do SUS) e **não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estruturados** (comentários do Instagram) num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Lake**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montei 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Warehouse**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gerei os insights que embasam a decisão de expansão.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arquitetura segue o padrão de Data Lake em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**três camadas**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**Bronze**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 dado cru, exatamente como veio dos 8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dos comentários.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**Prata**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 dado limpo e padronizado.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**Ouro**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tabelas analíticas que respondem às perguntas de negócio.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partir da camada ouro, derivei 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 Warehouse em esquema estrela**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 o Data Lake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físico roda em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uma solução S3 gratuita, subida via Docker. Tudo é reproduzível: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único comando executa o pipeline inteiro.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 script 01 e a pasta data/bronze, prata, ouro.)*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Comecei pelos dados de internação: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**16 mil registros**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janeiro de 2024 a dezembro de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2025. Na limpeza, três decisões importam.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**Primeira:**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unifiquei as especialidades — 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trazia 50 descrições diferentes, com variações como "oncologia clínica", "cirurgia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oncológica" e "oncologia hematologia", que reduzi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**37 especialidades**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padronizadas.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**Segunda:**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padronizei os nomes de município, que vinham com caixa e acentuação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inconsistentes.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**Terceira:**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normalizei sexo e idade, criei faixas etárias e tratei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 e registros inválidos. O resultado é a camada prata, limpa e confiável.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os gráficos da pasta figuras, um a um.)*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Agora os achados que respondem ao que o hospital precisa saber: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**Especialidades:**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Cardiologia lidera, seguida de Urologia e Gastroenterologia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forte demanda cirúrgica e oncológica.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**Perfil dos pacientes:**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sexos equilibrados, mas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**37% têm 60 anos ou mais**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demanda concentrada na terceira idade.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**Origem:**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só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**35% são de Natal**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os outros 65% vêm do interior e da região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metropolitana. O hospital atende uma área ampla, não só a capital.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**Sazonalidade:**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internações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**cresceram quase 12% de 2024 para 2025**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 picos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no segundo semestre — útil para planejar capacidade.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os gráficos da pasta figuras, um a um.)*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Agora os achados que respondem ao que o hospital precisa saber: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**Especialidades:**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Cardiologia lidera, seguida de Urologia e Gastroenterologia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forte demanda cirúrgica e oncológica.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**Perfil dos pacientes:**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sexos equilibrados, mas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**37% têm 60 anos ou mais**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demanda concentrada na terceira idade.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**Origem:**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só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**35% são de Natal**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os outros 65% vêm do interior e da região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metropolitana. O hospital atende uma área ampla, não só a capital.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**Sazonalidade:**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internações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**cresceram quase 12% de 2024 para 2025**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 picos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no segundo semestre — útil para planejar capacidade.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os gráficos da pasta figuras, um a um.)*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Agora os achados que respondem ao que o hospital precisa saber: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**Especialidades:**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Cardiologia lidera, seguida de Urologia e Gastroenterologia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forte demanda cirúrgica e oncológica.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**Perfil dos pacientes:**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sexos equilibrados, mas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**37% têm 60 anos ou mais**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demanda concentrada na terceira idade.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**Origem:**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só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**35% são de Natal**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os outros 65% vêm do interior e da região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metropolitana. O hospital atende uma área ampla, não só a capital.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**Sazonalidade:**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internações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**cresceram quase 12% de 2024 para 2025**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 picos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no segundo semestre — útil para planejar capacidade.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as tabelas em data/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Modelei um Data Warehouse em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**esquema estrela**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uma tabela fato com a quantidade de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internações, ligada a quatro dimensões — tempo, especialidade, município e perfil do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paciente. A soma da fato bate exatamente com o total da camada prata, o que confirma 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integridade do modelo. Com ele, o gestor consegue cruzar, por exemplo, especialidade por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faixa etária e por mês com poucos cliques.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 gráfico de sentimento e a documentação da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as perguntas sobre a percepção do público, eu precisaria dos comentários do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Instagram do hospital. Aqui há uma limitação real e importante de explicar: a **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Instagram só libera os comentários para quem tem perfil profissional — o que eu não tenho. Então gerei uma base sintética de 300 comentários** que reproduz os padrões reais. A análise — limpeza de emojis e hashtags,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tokenização e sentimento por léxico — classifica os comentários em positivo, negativo ou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neutro. O resultado: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**38% positivos**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(elogios à equipe),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**38% negativos**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(quase todos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 tempo de espera) e 24% neutros. A mensagem para a gestão é direta: o cuidado é bem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avaliado, mas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**espera é o ponto a corrigir**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docker-compose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 console do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http://localhost:9001.)*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fim, todas as camadas — bronze, prata, ouro e o Data Warehouse — são enviadas para um</a:t>
            </a:r>
          </a:p>
          <a:p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é um Data Lake S3-compatível e gratuito, rodando localmente em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Docker. Um script faz o upload automático e organiza tudo por camada.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Resumindo: parti de dados públicos brutos e de comentários, construí um Data Lake em três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camadas, um Data Warehouse dimensional e uma análise que cobre as seis perguntas de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negócio. Para o hospital privado, o retrato é claro — priorizar cardiologia, urologia 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áreas cirúrgicas, preparar-se para um público idoso e de ampla origem geográfica, e tratar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tempo de espera como diferencial competitivo. A principal limitação é o acesso real à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do Instagram, que deixei pronto para quando houver permissão. Obrigado.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103120"/>
            <a:ext cx="6217920" cy="6217920"/>
          </a:xfrm>
          <a:prstGeom prst="ellipse">
            <a:avLst/>
          </a:prstGeom>
          <a:solidFill>
            <a:srgbClr val="10726B"/>
          </a:solidFill>
          <a:ln w="12700">
            <a:solidFill>
              <a:srgbClr val="1072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E8E3E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DE APOIO À DECISÃO · TRABALHO AV2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privado rumo ao credenciamento SUS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Lake, Data Warehouse e análise de dados — referência HUOL/UFRN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31750">
            <a:solidFill>
              <a:srgbClr val="1493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 (SUS) + não estruturados (Instagram)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Sistemas de Informação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Investir no SUS exige conhecer a demanda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hospital privado de Natal quer se credenciar ao SUS para ofertar internações. Antes de investir, precisa entender a demanda real — e estuda o HUOL/UFRN, hospital público de referência, unindo dados oficiais e a percepção do público.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5577840" cy="2103120"/>
          </a:xfrm>
          <a:prstGeom prst="rect">
            <a:avLst/>
          </a:prstGeom>
          <a:solidFill>
            <a:srgbClr val="1072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959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dados estruturados e não estruturados num Data Lake, derivar um Data Warehouse e gerar insights que apoiem a decisão de expansão.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384048" cy="384048"/>
          </a:xfrm>
          <a:prstGeom prst="ellipse">
            <a:avLst/>
          </a:prstGeom>
          <a:solidFill>
            <a:srgbClr val="1493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18013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764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especialidades concentram mais internações?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92240" y="2478024"/>
            <a:ext cx="384048" cy="384048"/>
          </a:xfrm>
          <a:prstGeom prst="ellipse">
            <a:avLst/>
          </a:prstGeom>
          <a:solidFill>
            <a:srgbClr val="1493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92240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459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perfil etário e de gênero dos pacientes?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92240" y="3172968"/>
            <a:ext cx="384048" cy="384048"/>
          </a:xfrm>
          <a:prstGeom prst="ellipse">
            <a:avLst/>
          </a:prstGeom>
          <a:solidFill>
            <a:srgbClr val="1493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92240" y="3191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padrões por município (Natal x interior)?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92240" y="3867912"/>
            <a:ext cx="384048" cy="384048"/>
          </a:xfrm>
          <a:prstGeom prst="ellipse">
            <a:avLst/>
          </a:prstGeom>
          <a:solidFill>
            <a:srgbClr val="1493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849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sazonalidade entre 2024 e 2025?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456285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92240" y="45811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pessoas dizem sobre o hospital?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92240" y="52578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92240" y="5276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5239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sentimento predominante nos comentários?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92240" y="5998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perguntas de negócio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Lake em três camadas + DW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00400" cy="1554480"/>
          </a:xfrm>
          <a:prstGeom prst="rect">
            <a:avLst/>
          </a:prstGeom>
          <a:solidFill>
            <a:srgbClr val="A3784E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cru: 8 CSVs + comentários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0" y="22402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7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200400" cy="1554480"/>
          </a:xfrm>
          <a:prstGeom prst="rect">
            <a:avLst/>
          </a:prstGeom>
          <a:solidFill>
            <a:srgbClr val="8C9AA3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29768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 e padronizado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0" y="22402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7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200400" cy="1554480"/>
          </a:xfrm>
          <a:prstGeom prst="rect">
            <a:avLst/>
          </a:prstGeom>
          <a:solidFill>
            <a:srgbClr val="C9A227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95528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analíticas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731520" cy="731520"/>
          </a:xfrm>
          <a:prstGeom prst="ellipse">
            <a:avLst/>
          </a:prstGeom>
          <a:solidFill>
            <a:srgbClr val="10726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4336085"/>
            <a:ext cx="380390" cy="38039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830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estrela: fato + 4 dimensões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61688" y="39319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636008" y="4160520"/>
            <a:ext cx="731520" cy="731520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3" y="4336085"/>
            <a:ext cx="380390" cy="38039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04688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MinIO (S3)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636008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físico via Docker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083296" y="39319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8357616" y="4160520"/>
            <a:ext cx="731520" cy="731520"/>
          </a:xfrm>
          <a:prstGeom prst="ellipse">
            <a:avLst/>
          </a:prstGeom>
          <a:solidFill>
            <a:srgbClr val="1E8E3E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4336085"/>
            <a:ext cx="380390" cy="38039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226296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Visualização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357616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em Python/matplotlib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ESTRUTURADOS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camada bronze à prata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207008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694944" cy="694944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99" y="2205899"/>
            <a:ext cx="361371" cy="361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16.046 → 16.044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441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após remover datas/idades inválidas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94960" cy="1207008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28232" y="2039112"/>
            <a:ext cx="694944" cy="694944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019" y="2205899"/>
            <a:ext cx="361371" cy="3613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→ 37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441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 unificadas (ex.: 3 variantes → Oncologia)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5394960" cy="1207008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96112" y="3410712"/>
            <a:ext cx="694944" cy="694944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99" y="3577499"/>
            <a:ext cx="361371" cy="3613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municípios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83080" y="3813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 e acentuação padronizadas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154680"/>
            <a:ext cx="5394960" cy="1207008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28232" y="3410712"/>
            <a:ext cx="694944" cy="694944"/>
          </a:xfrm>
          <a:prstGeom prst="ellipse">
            <a:avLst/>
          </a:prstGeom>
          <a:solidFill>
            <a:srgbClr val="14938A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019" y="3577499"/>
            <a:ext cx="361371" cy="3613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sexo e idade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0" y="3813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normalizados; faixas etárias criadas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10927080" cy="1097280"/>
          </a:xfrm>
          <a:prstGeom prst="rect">
            <a:avLst/>
          </a:prstGeom>
          <a:solidFill>
            <a:srgbClr val="1072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868680" y="4846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sem unificar especialidades e padronizar municípios, as contagens ficariam fragmentadas e as perguntas de negócio não teriam resposta confiável.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 1 · ESPECIALIDADES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Cardiologia lidera a demanda</a:t>
            </a:r>
            <a:endParaRPr lang="en-US" sz="3100" dirty="0"/>
          </a:p>
        </p:txBody>
      </p:sp>
      <p:pic>
        <p:nvPicPr>
          <p:cNvPr id="4" name="Image 0" descr="figuras/fig_especialid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949440" cy="40146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783080"/>
            <a:ext cx="3703320" cy="4023360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Cardiologia (1.562) e Urologia (1.362) no topo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presença de áreas cirúrgicas e oncológicas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onde concentrar leitos e equipe no novo serviço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 2 · PERFIL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 idoso, sexos equilibrados</a:t>
            </a:r>
            <a:endParaRPr lang="en-US" sz="3100" dirty="0"/>
          </a:p>
        </p:txBody>
      </p:sp>
      <p:pic>
        <p:nvPicPr>
          <p:cNvPr id="4" name="Image 0" descr="figuras/fig_faixa_se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949440" cy="40146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783080"/>
            <a:ext cx="3703320" cy="1371600"/>
          </a:xfrm>
          <a:prstGeom prst="rect">
            <a:avLst/>
          </a:prstGeom>
          <a:solidFill>
            <a:srgbClr val="1072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863840" y="18745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0100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pacientes têm 60 anos ou mais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33832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equilibrada entre feminino e masculino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na terceira idade → demanda por especialidades geriátricas e crônicas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PERGUNTAS 3 E 4 · TERRITÓRIO E TEMPO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Ampla abrangência e tendência de alta</a:t>
            </a:r>
            <a:endParaRPr lang="en-US" sz="3100" dirty="0"/>
          </a:p>
        </p:txBody>
      </p:sp>
      <p:pic>
        <p:nvPicPr>
          <p:cNvPr id="4" name="Image 0" descr="figuras/fig_municip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669280" cy="2362200"/>
          </a:xfrm>
          <a:prstGeom prst="rect">
            <a:avLst/>
          </a:prstGeom>
        </p:spPr>
      </p:pic>
      <p:pic>
        <p:nvPicPr>
          <p:cNvPr id="5" name="Image 1" descr="figuras/fig_sazona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6583680" cy="287246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55280" y="1828800"/>
            <a:ext cx="3611880" cy="1325880"/>
          </a:xfrm>
          <a:prstGeom prst="rect">
            <a:avLst/>
          </a:prstGeom>
          <a:solidFill>
            <a:srgbClr val="1493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7955280" y="19202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~65%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8092440" y="2578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vêm do interior / região metropolitana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955280" y="3291840"/>
            <a:ext cx="3611880" cy="1325880"/>
          </a:xfrm>
          <a:prstGeom prst="rect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7955280" y="3383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+11,7%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8092440" y="40416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internações 2024 → 2025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955280" y="4800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muito além da capital, e a demanda está subindo — capacidade precisa acompanhar.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9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Esquema estrela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788920" y="2400300"/>
            <a:ext cx="3291840" cy="1577340"/>
          </a:xfrm>
          <a:prstGeom prst="line">
            <a:avLst/>
          </a:prstGeom>
          <a:noFill/>
          <a:ln w="19050">
            <a:solidFill>
              <a:srgbClr val="AAB7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flipV="1">
            <a:off x="6080760" y="2400300"/>
            <a:ext cx="3291840" cy="1577340"/>
          </a:xfrm>
          <a:prstGeom prst="line">
            <a:avLst/>
          </a:prstGeom>
          <a:noFill/>
          <a:ln w="19050">
            <a:solidFill>
              <a:srgbClr val="AAB7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V="1">
            <a:off x="2788920" y="3977640"/>
            <a:ext cx="3291840" cy="1257300"/>
          </a:xfrm>
          <a:prstGeom prst="line">
            <a:avLst/>
          </a:prstGeom>
          <a:noFill/>
          <a:ln w="19050">
            <a:solidFill>
              <a:srgbClr val="AAB7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080760" y="3977640"/>
            <a:ext cx="3291840" cy="1257300"/>
          </a:xfrm>
          <a:prstGeom prst="line">
            <a:avLst/>
          </a:prstGeom>
          <a:noFill/>
          <a:ln w="19050">
            <a:solidFill>
              <a:srgbClr val="AAB7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2103120" cy="868680"/>
          </a:xfrm>
          <a:prstGeom prst="rect">
            <a:avLst/>
          </a:prstGeom>
          <a:solidFill>
            <a:srgbClr val="10726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737360" y="2130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965960"/>
            <a:ext cx="2103120" cy="868680"/>
          </a:xfrm>
          <a:prstGeom prst="rect">
            <a:avLst/>
          </a:prstGeom>
          <a:solidFill>
            <a:srgbClr val="10726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321040" y="2130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dim_especialidade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4800600"/>
            <a:ext cx="2103120" cy="868680"/>
          </a:xfrm>
          <a:prstGeom prst="rect">
            <a:avLst/>
          </a:prstGeom>
          <a:solidFill>
            <a:srgbClr val="10726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737360" y="4965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dim_municipio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737360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4800600"/>
            <a:ext cx="2103120" cy="868680"/>
          </a:xfrm>
          <a:prstGeom prst="rect">
            <a:avLst/>
          </a:prstGeom>
          <a:solidFill>
            <a:srgbClr val="10726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321040" y="4965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dim_paciente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21040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383280"/>
            <a:ext cx="2194560" cy="11887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913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15.718 linhas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tempo × especialidade × município × perfil do paciente. A soma da fato (16.044) confere com a camada prata.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PERGUNTAS 5 E 6 · REDES SOCIAIS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público diz sobre o hospital</a:t>
            </a:r>
            <a:endParaRPr lang="en-US" sz="3100" dirty="0"/>
          </a:p>
        </p:txBody>
      </p:sp>
      <p:pic>
        <p:nvPicPr>
          <p:cNvPr id="4" name="Image 0" descr="figuras/fig_senti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931920" cy="30245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828800"/>
            <a:ext cx="6720840" cy="1371600"/>
          </a:xfrm>
          <a:prstGeom prst="rect">
            <a:avLst/>
          </a:prstGeom>
          <a:solidFill>
            <a:srgbClr val="F1F7F5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074920" y="2057400"/>
            <a:ext cx="640080" cy="640080"/>
          </a:xfrm>
          <a:prstGeom prst="ellipse">
            <a:avLst/>
          </a:prstGeom>
          <a:solidFill>
            <a:srgbClr val="E8A100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539" y="221101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7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Acesso real à Graph API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943600" y="23774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só libera comentários a quem administra a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Usei base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sintética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3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846320" y="3383280"/>
            <a:ext cx="6720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4846320" y="3383280"/>
            <a:ext cx="109728" cy="749808"/>
          </a:xfrm>
          <a:prstGeom prst="rect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074920" y="3493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400800" y="3493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— elogios à equipe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46320" y="4233672"/>
            <a:ext cx="6720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846320" y="4233672"/>
            <a:ext cx="109728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5074920" y="4343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40080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— tempo de espera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46320" y="5084064"/>
            <a:ext cx="6720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4846320" y="5084064"/>
            <a:ext cx="109728" cy="749808"/>
          </a:xfrm>
          <a:prstGeom prst="rect">
            <a:avLst/>
          </a:prstGeom>
          <a:solidFill>
            <a:srgbClr val="5E75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5074920" y="5193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7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400800" y="5193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 — dúvidas operacionais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072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1E8E3E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públicos viraram um retrato acionável para a decisão de expansão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(bronze/prata/ouro) + Data Warehouse estrela, em MinIO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Demanda: cardiologia/urologia/cirurgias, público idoso, ampla origem, em alta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positiva (38%); tempo de espera é o ponto a corrigir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63440"/>
            <a:ext cx="640080" cy="640080"/>
          </a:xfrm>
          <a:prstGeom prst="ellipse">
            <a:avLst/>
          </a:prstGeom>
          <a:solidFill>
            <a:srgbClr val="E8A100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8170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6634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comentários sintéticos (API do Instagram </a:t>
            </a:r>
            <a:r>
              <a:rPr lang="en-US" sz="1400" i="1" dirty="0" err="1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restrita</a:t>
            </a:r>
            <a:r>
              <a:rPr lang="en-US" sz="1400" i="1" dirty="0">
                <a:solidFill>
                  <a:srgbClr val="D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ausência de desfecho clínico na base.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1867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 Saúde — HUOL (AV2)</dc:title>
  <dc:subject>PptxGenJS Presentation</dc:subject>
  <dc:creator>Manoelito</dc:creator>
  <cp:lastModifiedBy>Manoelito Holanda Castelo Matos</cp:lastModifiedBy>
  <cp:revision>3</cp:revision>
  <dcterms:created xsi:type="dcterms:W3CDTF">2026-05-31T20:34:39Z</dcterms:created>
  <dcterms:modified xsi:type="dcterms:W3CDTF">2026-06-02T02:01:01Z</dcterms:modified>
</cp:coreProperties>
</file>