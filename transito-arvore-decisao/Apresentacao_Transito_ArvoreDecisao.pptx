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3E50"/>
                </a:solidFill>
                <a:latin typeface="Arial"/>
              </a:defRPr>
            </a:pPr>
            <a:r>
              <a:rPr lang="pt-BR" sz="1300" b="0" i="0" u="none" strike="noStrike">
                <a:solidFill>
                  <a:srgbClr val="2C3E50"/>
                </a:solidFill>
                <a:latin typeface="Arial"/>
              </a:rPr>
              <a:t>Distribuição da classificação do acidente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classificacao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00-46DB-9B0E-8C5649543D69}"/>
              </c:ext>
            </c:extLst>
          </c:dPt>
          <c:dPt>
            <c:idx val="1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00-46DB-9B0E-8C5649543D69}"/>
              </c:ext>
            </c:extLst>
          </c:dPt>
          <c:dPt>
            <c:idx val="2"/>
            <c:bubble3D val="0"/>
            <c:spPr>
              <a:solidFill>
                <a:srgbClr val="7B1E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00-46DB-9B0E-8C5649543D6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00-46DB-9B0E-8C5649543D6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00-46DB-9B0E-8C5649543D6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00-46DB-9B0E-8C5649543D6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 Vítimas Feridas</c:v>
                </c:pt>
                <c:pt idx="1">
                  <c:v>Sem Vítimas</c:v>
                </c:pt>
                <c:pt idx="2">
                  <c:v>Com Vítimas Fatais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56181</c:v>
                </c:pt>
                <c:pt idx="1">
                  <c:v>11138</c:v>
                </c:pt>
                <c:pt idx="2">
                  <c:v>5209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00-46DB-9B0E-8C5649543D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4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118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Olá. Este trabalho usa aprendizado de máquina para apoiar o planejamento de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**campanhas educativas de trânsito**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 problema gerencial é direto: campanhas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costumam ser definidas por experiência e estatística geral; aqui a proposta é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orientar a decisão por dados. A pergunta central é: *quais características dos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sinistros estão mais associadas à ocorrência de vítimas e devem ser o foco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prioritário das campanhas?*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Olá. Este trabalho usa aprendizado de máquina para apoiar o planejamento de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**campanhas educativas de trânsito**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 problema gerencial é direto: campanhas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costumam ser definidas por experiência e estatística geral; aqui a proposta é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orientar a decisão por dados. A pergunta central é: *quais características dos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sinistros estão mais associadas à ocorrência de vítimas e devem ser o foco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prioritário das campanhas?*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Usei a base da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**Polícia Rodoviária Federal**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sinistros agrupados por ocorrência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2025, do portal de dados abertos. São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**72.529 registros**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30 atributos, em CSV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separador ponto e vírgula e codificação latin-1. A variável que descreve 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resultado é a `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classificacao_acidente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`: sem vítimas, com vítimas feridas, ou com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vítimas fatais.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Fiz duas decisões importantes na preparação.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**Primeira:**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transformei o alvo em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**binário**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"com vítimas" (feridas ou fatais) contra "sem vítimas" — porque o que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interessa ao gestor é distinguir o que tem consequência humana do que não tem.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**Segunda, e mais importante:**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removi propositalmente as colunas `mortos`,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`feridos` e `ilesos`. Elas são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**resultado**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acidente, não causa; se eu 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deixasse, o modelo acertaria de forma trivial, mas sem valor preditivo — é o que se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chama de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**vazamento de informação**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Selecionei então 10 atributos de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**contexto**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causa do acidente, tipo de acidente, dia da semana, fase do dia, condição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meteorológica, tipo e traçado da via, sentido, uso do solo e UF. Como o</a:t>
            </a:r>
          </a:p>
          <a:p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scikit-learn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exige números, codifiquei as variáveis categóricas com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LabelEncoder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modelo é uma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**Árvore de Decisão com critério de entropia**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implementa o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**ganho de informação**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algoritmo ID3/C4.5. A ideia: a entropia mede a impureza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um conjunto; a cada nó, a árvore escolhe o atributo que **mais reduz essa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incerteza** sobre a classe alvo. Limitei a profundidade a 6 níveis para equilibrar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capacidade preditiva e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interpretabilidade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evitando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Dividi os dados em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70% treino e 30% teste, com estratificação para manter a proporção das classes.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a matriz de confusão.)*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modelo atingiu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**86,75% de acurácia**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Mas é preciso ler esse número com cuidado: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84,6% dos acidentes têm vítimas,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**prever sempre "com vítimas" já daria 84,6%**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ganho real do modelo sobre esse palpite trivial é de apenas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 pontos**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matriz de confusão confirma: ele acerta praticamente todos os casos com vítimas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(recall perto de 100%), mas só identifica 14% dos casos sem vítimas. Isso é efeito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**desbalanceamento**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classes.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a tabela do modelo balanceado.)*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tratar isso, treinei também uma versão com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**pesos balanceados**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Ela troca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acurácia global (cai para 74%) por um recall de "sem vítimas" que sobe de 14% para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**50%**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 acurácia balanceada melhor. No contexto de saúde pública, o modelo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padrão — que raramente deixa passar um caso grave — é defensável; mas mostrar as duas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versões deixa a avaliação mais transparente.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a matriz de confusão.)*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modelo atingiu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**86,75% de acurácia**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Mas é preciso ler esse número com cuidado: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84,6% dos acidentes têm vítimas,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**prever sempre "com vítimas" já daria 84,6%**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ganho real do modelo sobre esse palpite trivial é de apenas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 pontos**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matriz de confusão confirma: ele acerta praticamente todos os casos com vítimas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(recall perto de 100%), mas só identifica 14% dos casos sem vítimas. Isso é efeito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**desbalanceamento**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classes.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a tabela do modelo balanceado.)*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tratar isso, treinei também uma versão com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**pesos balanceados**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Ela troca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acurácia global (cai para 74%) por um recall de "sem vítimas" que sobe de 14% para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**50%**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 acurácia balanceada melhor. No contexto de saúde pública, o modelo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padrão — que raramente deixa passar um caso grave — é defensável; mas mostrar as duas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versões deixa a avaliação mais transparente.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*(Mostrar o gráfico de importância das features e a árvore.)*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Aqui está o resultado central para a decisão. Dois atributos dominam: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**a causa do acidente, com 51% de importância, e o tipo de acidente, com 43%**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Juntos, respondem por mais de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**94%**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poder preditivo. Todo o resto — dia da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semana, clima, tipo de pista — tem peso quase nulo. A leitura gerencial é clara: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 porquê e o como do acidente importam muito mais do que o quando ou o onde.**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Importante: essas duas features lideram tanto no modelo padrão quanto no balanceado,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seja, a conclusão é robusta.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base nisso, proponho concentrar recursos em três frentes, em ordem de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prioridade: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**Prioridade alta — causa do acidente:**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campanhas contra desatenção, sonolência,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uso de celular e velocidade incompatível, com foco em motoristas profissionais 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blitzes educativas nos trechos críticos.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**Prioridade alta — tipo de colisão:**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campanhas sobre ultrapassagem indevida 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colisões frontais, e fiscalização eletrônica em trechos com histórico de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capotamento e tombamento.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**Prioridade média — ações noturnas em rodovias rurais**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combinando fase do dia e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uso do solo.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Campanhas genéricas por dia da semana ou clima ficam em baixa prioridade, porque os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dados mostram que têm pouco efeito sobre a gravidade.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6035040" cy="6035040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383280"/>
            <a:ext cx="3657600" cy="3657600"/>
          </a:xfrm>
          <a:prstGeom prst="ellipse">
            <a:avLst/>
          </a:prstGeom>
          <a:solidFill>
            <a:srgbClr val="C0392B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1558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3E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SISTEMAS DE APOIO À TOMADA DE DECISÃO · TRABALHO AV1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Apoio à Decisão para Campanhas Educativas no Trânsito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3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Identificando os atributos da gravidade com Árvore de Decisão (entropia)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68680" y="4709160"/>
            <a:ext cx="292608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2296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Sinistros de Trânsito PRF 2025 (dados.gov.br)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Sistemas de Informação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Campanhas no escuro vs. decisão por dados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educativas de trânsito costumam ser definidas por experiência e estatística geral. Com milhares de registros, a análise manual é inviável — e o órgão quer direcionar recursos pelos padrões reais dos sinistros.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46520" y="1783080"/>
            <a:ext cx="5074920" cy="96012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46520" y="1783080"/>
            <a:ext cx="73152" cy="9601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675120" y="191109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 atributos críticos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22860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ligado à gravidade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880360"/>
            <a:ext cx="5074920" cy="96012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46520" y="2880360"/>
            <a:ext cx="73152" cy="9601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675120" y="300837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Transformar dado em conhecimento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33832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vira política pública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3977640"/>
            <a:ext cx="5074920" cy="96012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46520" y="3977640"/>
            <a:ext cx="73152" cy="9601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75120" y="4105656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Apoiar a prevenção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44805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estratégicas embasadas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5577840" cy="21945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6868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3E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 central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características dos sinistros estão mais associadas à ocorrência de vítimas e devem ser o foco prioritário das campanhas?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DE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Sinistros da PRF — 2025</a:t>
            </a:r>
            <a:endParaRPr lang="en-US" sz="3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47548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828800"/>
            <a:ext cx="5715000" cy="109728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035040" y="19385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80B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72.529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549640" y="193852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× 30 atributos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160" y="3108960"/>
            <a:ext cx="5715000" cy="109728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035040" y="321868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84,6%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549640" y="321868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sinistros têm vítimas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52160" y="4389120"/>
            <a:ext cx="5715000" cy="109728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035040" y="449884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549640" y="449884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contexto no modelo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852160" y="57150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com separador ';' e latin-1. Alvo: classificacao_acidente → sem vítimas, com vítimas feridas, com vítimas fatais.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PREPARAÇÃO DOS DADOS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Alvo binário e cuidado com data leakage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" cy="731520"/>
          </a:xfrm>
          <a:prstGeom prst="ellipse">
            <a:avLst/>
          </a:prstGeom>
          <a:solidFill>
            <a:srgbClr val="2980B9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19586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Alvo binário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Agrupei feridas + fatais em "Com Vítimas" (1) contra "Sem Vítimas" (0). O que interessa ao gestor é separar o que tem consequência humana do que não tem.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0" y="1783080"/>
            <a:ext cx="731520" cy="73152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6365" y="1958645"/>
            <a:ext cx="380390" cy="3803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94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vazamento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492240" y="2468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Excluí mortos, feridos e ilesos: são resultado do acidente, não causa. Mantê-los deixaria o modelo trivialmente certo, mas inútil para prevenção.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10927080" cy="17830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9"/>
          <p:cNvSpPr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atributos de contexto usados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68680" y="4663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3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do acidente · tipo de acidente · sentido da via · fase do dia · uso do solo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3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 · traçado da via · condição meteorológica · dia da semana · tipo de pista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68680" y="5486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3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codificadas com LabelEncoder (a árvore particiona por limiares).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ALGORITMO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Árvore de Decisão com entropia (ID3/C4.5)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entropia mede a impureza de um conjunto. A cada nó, a árvore escolhe o atributo de maior ganho de informação — o que mais reduz a incerteza sobre a classe.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22960" y="3392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33924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— ganho de informação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261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426110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equilíbrio precisão × leitura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5669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22960" y="51297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51297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treino / 30% teste, estratificado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37960" y="173736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5" name="Image 0" descr="arvore_deci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76272"/>
            <a:ext cx="4663440" cy="186537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2084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níveis da árvore: o topo já divide por causa_acidente.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AVALIAÇÃO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Acurácia alta — mas leitura honesta</a:t>
            </a:r>
            <a:endParaRPr lang="en-US" sz="3100" dirty="0"/>
          </a:p>
        </p:txBody>
      </p:sp>
      <p:pic>
        <p:nvPicPr>
          <p:cNvPr id="4" name="Image 0" descr="matriz_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3611880" cy="3009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828800"/>
            <a:ext cx="3246120" cy="1554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846320" y="19933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86,75%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84632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do modelo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21040" y="1828800"/>
            <a:ext cx="3246120" cy="155448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321040" y="1993392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84,6%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41248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prever sempre "com vítimas"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846320" y="3611880"/>
            <a:ext cx="6720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 sobre o baseline: só </a:t>
            </a: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pontos</a:t>
            </a: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Acurácia balanceada de apenas 0,57.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46320" y="4251960"/>
            <a:ext cx="6720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"Com Vítimas" ~100% (não deixa passar caso grave)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"Sem Vítimas" só 14% — efeito do desbalanceamento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balanceado: o trade-off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Treinei uma segunda árvore com class_weight='balanced', que penaliza mais os erros na classe rara. Ela troca acurácia global por uma detecção bem melhor dos casos sem vítimas.</a:t>
            </a:r>
            <a:endParaRPr lang="en-US" sz="16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7315200" cy="28346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padrão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balanceado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geral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86,75%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74,40%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balanceada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"Sem Vítimas"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14360" y="2802722"/>
            <a:ext cx="3337560" cy="283464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458200" y="3063240"/>
            <a:ext cx="640080" cy="640080"/>
          </a:xfrm>
          <a:prstGeom prst="ellipse">
            <a:avLst/>
          </a:prstGeom>
          <a:solidFill>
            <a:srgbClr val="1E8E3E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19" y="321685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354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Conclusão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458200" y="3886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ambos os modelos, causa_acidente e tipo_acidente seguem como as features mais importantes — então as recomendações de campanha não mudam.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RELEVANTES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realmente decide a gravidade</a:t>
            </a:r>
            <a:endParaRPr lang="en-US" sz="3100" dirty="0"/>
          </a:p>
        </p:txBody>
      </p:sp>
      <p:pic>
        <p:nvPicPr>
          <p:cNvPr id="4" name="Image 0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6126480" cy="3675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828800"/>
            <a:ext cx="4617720" cy="14173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949440" y="19385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086600" y="26517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poder preditivo vêm de causa + tipo do acidente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86600" y="34747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causa_acidente — 51,1%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tipo_acidente — 43,1%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resto (dia, clima, pista...) &lt; 3% somado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49440" y="5029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gerencial: o porquê e o como do acidente importam mais que o quando ou o onde.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PROPOSIÇÃO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Três campanhas priorizadas pelos dados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28016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2039112"/>
            <a:ext cx="777240" cy="77724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225650"/>
            <a:ext cx="404165" cy="40416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0" y="2039112"/>
            <a:ext cx="9601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828800" y="20482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0" y="19842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 Zero: Atenção Salva Vidas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926080" y="24048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causa_acidente (51%): desatenção, sonolência, celular, velocidade. Público: motoristas, com ênfase em profissionais.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200400"/>
            <a:ext cx="10927080" cy="128016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868680" y="3456432"/>
            <a:ext cx="777240" cy="777240"/>
          </a:xfrm>
          <a:prstGeom prst="ellipse">
            <a:avLst/>
          </a:prstGeom>
          <a:solidFill>
            <a:srgbClr val="C0392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3642970"/>
            <a:ext cx="404165" cy="40416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828800" y="3456432"/>
            <a:ext cx="96012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1828800" y="346557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926080" y="34015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Colisão Evitável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926080" y="38221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tipo_acidente (43%): ultrapassagem indevida e colisão frontal; fiscalização em trechos de capotamento/tombamento.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4617720"/>
            <a:ext cx="10927080" cy="1280160"/>
          </a:xfrm>
          <a:prstGeom prst="rect">
            <a:avLst/>
          </a:prstGeom>
          <a:solidFill>
            <a:srgbClr val="F3F6F9"/>
          </a:solidFill>
          <a:ln w="12700">
            <a:solidFill>
              <a:srgbClr val="E3E9F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5"/>
          <p:cNvSpPr/>
          <p:nvPr/>
        </p:nvSpPr>
        <p:spPr>
          <a:xfrm>
            <a:off x="868680" y="4873752"/>
            <a:ext cx="777240" cy="777240"/>
          </a:xfrm>
          <a:prstGeom prst="ellipse">
            <a:avLst/>
          </a:prstGeom>
          <a:solidFill>
            <a:srgbClr val="E8A100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218" y="5060290"/>
            <a:ext cx="404165" cy="40416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828800" y="4873752"/>
            <a:ext cx="960120" cy="384048"/>
          </a:xfrm>
          <a:prstGeom prst="rect">
            <a:avLst/>
          </a:prstGeom>
          <a:solidFill>
            <a:srgbClr val="E8A1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7"/>
          <p:cNvSpPr/>
          <p:nvPr/>
        </p:nvSpPr>
        <p:spPr>
          <a:xfrm>
            <a:off x="1828800" y="488289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MÉDIA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926080" y="481888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Noite nas Rodovias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2926080" y="52395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fase_dia + uso_solo: fadiga e paradas em rodovias rurais à noite; alertas de navegação e iluminação.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-1828800"/>
            <a:ext cx="4572000" cy="4572000"/>
          </a:xfrm>
          <a:prstGeom prst="ellipse">
            <a:avLst/>
          </a:prstGeom>
          <a:solidFill>
            <a:srgbClr val="C0392B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3E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Campanhas no comportamento que causa o acidente — onde o recurso salva mais vidas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 tipo do acidente explicam &gt;94% da gravidade prevista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honesta: baseline 84,6% e modelo balanceado para transparência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priorizados: atenção/velocidade e colisões evitáveis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4663440"/>
            <a:ext cx="640080" cy="640080"/>
          </a:xfrm>
          <a:prstGeom prst="ellipse">
            <a:avLst/>
          </a:prstGeom>
          <a:solidFill>
            <a:srgbClr val="E8A100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8170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6634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E3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classes desbalanceadas (84,6% vs 15,4%) — tratada mostrando baseline e modelo balanceado.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1909</Words>
  <Application>Microsoft Office PowerPoint</Application>
  <PresentationFormat>Widescreen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 de Decisão — Trânsito PRF 2025</dc:title>
  <dc:subject>PptxGenJS Presentation</dc:subject>
  <dc:creator>Manoelito</dc:creator>
  <cp:lastModifiedBy>Manoelito Holanda Castelo Matos</cp:lastModifiedBy>
  <cp:revision>2</cp:revision>
  <dcterms:created xsi:type="dcterms:W3CDTF">2026-05-31T18:23:40Z</dcterms:created>
  <dcterms:modified xsi:type="dcterms:W3CDTF">2026-05-31T20:14:54Z</dcterms:modified>
</cp:coreProperties>
</file>