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4E79"/>
                </a:solidFill>
                <a:latin typeface="Arial"/>
              </a:defRPr>
            </a:pPr>
            <a:r>
              <a:rPr lang="pt-BR" sz="1400" b="0" i="0" u="none" strike="noStrike">
                <a:solidFill>
                  <a:srgbClr val="1F4E79"/>
                </a:solidFill>
                <a:latin typeface="Arial"/>
              </a:rPr>
              <a:t>Erro das notas (MAE) por k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das notas</c:v>
                </c:pt>
              </c:strCache>
            </c:strRef>
          </c:tx>
          <c:spPr>
            <a:ln w="38100" cap="flat">
              <a:solidFill>
                <a:srgbClr val="2E75B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4E79"/>
                    </a:solidFill>
                    <a:latin typeface="Arial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9</c:v>
                </c:pt>
                <c:pt idx="2">
                  <c:v>15</c:v>
                </c:pt>
                <c:pt idx="3">
                  <c:v>25</c:v>
                </c:pt>
                <c:pt idx="4">
                  <c:v>41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13.29</c:v>
                </c:pt>
                <c:pt idx="1">
                  <c:v>12.76</c:v>
                </c:pt>
                <c:pt idx="2">
                  <c:v>12.48</c:v>
                </c:pt>
                <c:pt idx="3">
                  <c:v>12.35</c:v>
                </c:pt>
                <c:pt idx="4">
                  <c:v>12.28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64D-4D17-89B1-CA6FA850189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lang="pt-BR" sz="1200" b="0" i="0" u="none" strike="noStrike">
                    <a:solidFill>
                      <a:srgbClr val="64748B"/>
                    </a:solidFill>
                    <a:latin typeface="Arial"/>
                  </a:rPr>
                  <a:t>k (vizinhos)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3.6"/>
          <c:min val="11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9655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Olá. Este trabalho apresenta um Sistema de Apoio à Decisão para um cursinho preparatório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ENCCEJA.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 é concreto: quando um aluno se matricula, o gestor conhece só 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perfil socioeconômico dele — idade, sexo, região, se trabalha, renda, escolaridade — mas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**não conhece o desempenho**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Mesmo assim, precisa decidir nível de acompanhamento,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necessidade de reforço e alocação de turmas e professores. A pergunta central é: *dá para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apoiar essa decisão usando o histórico de candidatos parecidos?*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resposta foi construir um sistema com o algoritmo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K-NN.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ideia é simples e poderosa: para um candidato novo, o sistema procura no histórico do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ENCCEJA os participantes mais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**semelhantes**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perfil e usa o desempenho deles para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estimar as notas esperadas e o risco de reprovação do candidato. O foco não é o algoritmo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si, e sim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**apoiar a decisão gerencial**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Usei os microdados oficiais do ENCCEJA 2024, do INEP — o arquivo nacional regular, com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117 variáveis e cerca de 835 mil registros. Cada linha reúne, num só arquivo, os dados de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inscrição, as notas e a aprovação por área, e o questionário socioeconômico de 75 perguntas.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variáveis usadas no perfil foram exatamente as pedidas no enunciado: certificação,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faixa etária, sexo, UF, situação de trabalho, renda familiar e escolaridade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 dados brutos precisaram de higienização. Primeiro, mantive só quem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**esteve presente**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nas quatro provas — quem faltou não tem nota. Depois, descartei notas inválidas e registros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perfil completo. Recodifiquei as variáveis: "trabalha" virou Sim/Não; renda e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escolaridade viraram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**escalas ordinais**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 categoria "não sei" da renda foi imputada com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mediana para não perder registros. Sobraram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**133 mil participantes**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consistentes.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fim,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**normalização**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como o K-NN usa distância, todas as variáveis foram colocadas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 mesma escala, de 0 a 1, para nenhuma dominar o cálculo. A região recebeu um peso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calibrado para isso, e o nível de certificação virou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**filtro**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um candidato do Médio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só é comparado a participantes do Médio, porque as provas são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K-NN foi implementado de forma transparente, em Python com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NumPy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em três passos.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**Um:**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perfil do candidato é convertido no mesmo vetor normalizado da base.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**Dois:**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calculo a distância euclidiana dele para todos os participantes do mesmo nível.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**Três:**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seleciono os `k` de menor distância — os vizinhos mais parecidos.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esses vizinhos, faço duas coisas.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**nota esperada**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cada área é a média das notas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dos vizinhos — isso é regressão. E 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**risco de reprovação**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 proporção de vizinhos que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foram aprovados — isso é classificação. Se a maioria dos semelhantes reprovou, o candidato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herda esse alto risco.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*(Mostrar a tela do `app_gui.py` em execução.)*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interface. O gestor preenche o perfil do candidato e clica em "Analisar".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sistema retorna, por área,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**nota esperada**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**faixa de notas dos vizinhos**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**comparação com a média do nível**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**percentual de vizinhos aprovados**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topo aparece 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**risco**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verde, amarelo ou vermelho — e a expectativa de aprovação em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quantas das quatro áreas.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*(Demonstrar dois casos:)*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Repare neste perfil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**alto risco**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candidato jovem, do Fundamental, baixa escolaridade —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 vizinhos têm taxa de aprovação de só 37%. Agora um perfil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**baixo risco**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mais velho,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Ensino Médio, renda mais alta — 85% dos semelhantes aprovados. O sistema deixa claro quais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disciplinas são mais críticas.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Abaixo, o sistema gera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**recomendações automáticas**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gestor: por exemplo, indicar a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disciplina de maior atenção, sugerir reforço intensivo e acompanhamento individual para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alto risco, ou alertar para redação fraca.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essas previsões têm respaldo. Numa avaliação com separação treino/teste, o erro médio das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notas ficou em torno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**12 pontos**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 a previsão de aprovação acertou cerca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**87%**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dos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casos — usando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**apenas o perfil socioeconômico**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sem nenhum dado de desempenho. Esse é 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mais importante: o perfil socioeconômico, sozinho, já carrega sinal real sobre 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 no exame, o que justifica usá-lo para apoiar a decisão logo na matrícula.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resumo: transformei os microdados do ENCCEJA num sistema que ajuda o gestor a antecipar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risco de cada aluno e a direcionar reforço e acompanhamento de forma fundamentada, em vez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no "achismo". As limitações principais são que a base contém só quem concluiu o exame, e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 o perfil explica parte, não tudo, do desempenho. Ainda assim, como ferramenta de apoio à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decisão, ele entrega exatamente o que o problema pedia. Obrigado.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943600" cy="59436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241280" y="3291840"/>
            <a:ext cx="3840480" cy="3840480"/>
          </a:xfrm>
          <a:prstGeom prst="ellipse">
            <a:avLst/>
          </a:prstGeom>
          <a:solidFill>
            <a:srgbClr val="2E75B6">
              <a:alpha val="6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822960" y="914400"/>
            <a:ext cx="1005840" cy="1005840"/>
          </a:xfrm>
          <a:prstGeom prst="ellipse">
            <a:avLst/>
          </a:prstGeom>
          <a:solidFill>
            <a:srgbClr val="2E75B6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362" y="115580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DCE6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SISTEMAS DE APOIO À TOMADA DE DECISÃO · TRABALHO AV1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60604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Apoio à Decisão Educacional no ENCCEJA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CE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desempenho e risco com o algoritmo K-Nearest Neighbors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68680" y="4389120"/>
            <a:ext cx="2926080" cy="0"/>
          </a:xfrm>
          <a:prstGeom prst="line">
            <a:avLst/>
          </a:prstGeom>
          <a:noFill/>
          <a:ln w="317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822960" y="4572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ENCCEJA 2024 (INEP)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Sistemas de Informação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Decidir na matrícula, sem conhecer o desempenho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um aluno se matricula no cursinho, o gestor conhece apenas o perfil socioeconômico — mas precisa decidir o acompanhamento pedagógico desde o primeiro dia.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0" y="1783080"/>
            <a:ext cx="5120640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6400800" y="1783080"/>
            <a:ext cx="73152" cy="9144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629400" y="18928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Nível de acompanhamento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suporte pedagógico oferecer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834640"/>
            <a:ext cx="5120640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400800" y="2834640"/>
            <a:ext cx="73152" cy="9144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629400" y="2944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Reforço intensivo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3291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precisa de atenção redobrada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3886200"/>
            <a:ext cx="5120640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6400800" y="3886200"/>
            <a:ext cx="73152" cy="9144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629400" y="3995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Alocação de recursos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29400" y="4343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turmas e professores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4937760"/>
            <a:ext cx="5120640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6400800" y="4937760"/>
            <a:ext cx="73152" cy="9144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6629400" y="504748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Chances de aprovação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29400" y="5394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aumentar a aprovação real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3657600"/>
            <a:ext cx="5486400" cy="224028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6868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DCE6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Pergunta central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42519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apoiar decisões pedagógicas a partir do perfil socioeconômico, usando o desempenho de candidatos semelhantes do ENCCEJA?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 E ABORDAGEM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ideia do K-Nearest Neighbors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um candidato novo, o sistema procura no histórico do ENCCEJA os participantes mais semelhantes em perfil e usa o desempenho deles para estimar notas e risco. O foco é apoiar a decisão gerencial, não só rodar o algoritmo.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520440" y="4983480"/>
            <a:ext cx="0" cy="0"/>
          </a:xfrm>
          <a:prstGeom prst="line">
            <a:avLst/>
          </a:prstGeom>
          <a:noFill/>
          <a:ln w="254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3520440" y="4983480"/>
            <a:ext cx="0" cy="822960"/>
          </a:xfrm>
          <a:prstGeom prst="line">
            <a:avLst/>
          </a:prstGeom>
          <a:noFill/>
          <a:ln w="254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3520440" y="4983480"/>
            <a:ext cx="1371600" cy="0"/>
          </a:xfrm>
          <a:prstGeom prst="line">
            <a:avLst/>
          </a:prstGeom>
          <a:noFill/>
          <a:ln w="254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3520440" y="4983480"/>
            <a:ext cx="1828800" cy="914400"/>
          </a:xfrm>
          <a:prstGeom prst="line">
            <a:avLst/>
          </a:prstGeom>
          <a:noFill/>
          <a:ln w="254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3520440" y="4983480"/>
            <a:ext cx="1554480" cy="0"/>
          </a:xfrm>
          <a:prstGeom prst="line">
            <a:avLst/>
          </a:prstGeom>
          <a:noFill/>
          <a:ln w="254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280160" y="3291840"/>
            <a:ext cx="566928" cy="566928"/>
          </a:xfrm>
          <a:prstGeom prst="ellipse">
            <a:avLst/>
          </a:prstGeom>
          <a:solidFill>
            <a:srgbClr val="1E8E3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1737360" y="5394960"/>
            <a:ext cx="566928" cy="566928"/>
          </a:xfrm>
          <a:prstGeom prst="ellipse">
            <a:avLst/>
          </a:prstGeom>
          <a:solidFill>
            <a:srgbClr val="1E8E3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480560" y="3383280"/>
            <a:ext cx="566928" cy="566928"/>
          </a:xfrm>
          <a:prstGeom prst="ellipse">
            <a:avLst/>
          </a:prstGeom>
          <a:solidFill>
            <a:srgbClr val="E8A1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937760" y="5486400"/>
            <a:ext cx="566928" cy="566928"/>
          </a:xfrm>
          <a:prstGeom prst="ellipse">
            <a:avLst/>
          </a:prstGeom>
          <a:solidFill>
            <a:srgbClr val="1E8E3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663440" y="4572000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108960" y="4572000"/>
            <a:ext cx="822960" cy="822960"/>
          </a:xfrm>
          <a:prstGeom prst="ellipse">
            <a:avLst/>
          </a:prstGeom>
          <a:solidFill>
            <a:srgbClr val="1F4E79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108960" y="4626864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560320" y="5440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novo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vizinhos mais próximos (k)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66560" y="2971800"/>
            <a:ext cx="594360" cy="59436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766560" y="300837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543800" y="2953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Mede a semelhança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543800" y="33192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sobre o perfil normalizado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766560" y="3931920"/>
            <a:ext cx="594360" cy="59436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6766560" y="396849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543800" y="39136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Seleciona os k vizinhos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4279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participantes mais parecidos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66560" y="4892040"/>
            <a:ext cx="594360" cy="59436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6766560" y="492861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543800" y="4873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 o desempenho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543800" y="5239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nota esperada e risco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DADOS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Microdados do ENCCEJA 2024 (INEP)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9748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835 mil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no arquivo nacional regular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828800"/>
            <a:ext cx="269748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474720" y="20116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133 mil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 após higienização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269748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309360" y="20116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9224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no arquivo original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0" y="1828800"/>
            <a:ext cx="269748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144000" y="20116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32688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de perfil usados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de perfil (entrada):  </a:t>
            </a: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certificação · faixa etária · sexo · UF · trabalho · renda familiar · escolaridade anterior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(saída prevista):  </a:t>
            </a: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 LC, CH, MT e CN (0–180), redação (0–10) e indicadores de aprovação por área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074920"/>
            <a:ext cx="10972800" cy="868680"/>
          </a:xfrm>
          <a:prstGeom prst="rect">
            <a:avLst/>
          </a:prstGeom>
          <a:solidFill>
            <a:srgbClr val="DCE6F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868680" y="519379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técnico: CSV com separador ';' e codificação latin-1; perfil e desempenho convivem no mesmo arquivo, junto do questionário socioeconômico (Q01–Q75).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PREPARAÇÃO DOS DADOS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Higienização e normalização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31520" cy="731520"/>
          </a:xfrm>
          <a:prstGeom prst="ellipse">
            <a:avLst/>
          </a:prstGeom>
          <a:solidFill>
            <a:srgbClr val="2E75B6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5" y="19586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Higienização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251460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Mantidos só os presentes nas 4 provas (quem faltou não tem nota)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Descartadas notas inválidas e perfis incompletos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recodificado para Sim/Não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e escolaridade viram escalas ordinais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"Não sei" da renda imputado pela mediana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0" y="1783080"/>
            <a:ext cx="731520" cy="731520"/>
          </a:xfrm>
          <a:prstGeom prst="ellipse">
            <a:avLst/>
          </a:prstGeom>
          <a:solidFill>
            <a:srgbClr val="1F4E79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365" y="195864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26948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Normalização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492240" y="25146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ordinais reescaladas para [0, 1]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Binárias (sexo, trabalho) já em 0/1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Região em one-hot ponderado (não domina a distância)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Certificação é filtro: Médio só compara com Médio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92240" y="5074920"/>
            <a:ext cx="5074920" cy="86868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9"/>
          <p:cNvSpPr/>
          <p:nvPr/>
        </p:nvSpPr>
        <p:spPr>
          <a:xfrm>
            <a:off x="6675120" y="5138928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normalizar? O K-NN usa distância — sem escala comum, a variável de maior amplitude dominaria o cálculo.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ALGORITMO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K-NN em três passos, duas saídas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661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685800" cy="685800"/>
          </a:xfrm>
          <a:prstGeom prst="ellipse">
            <a:avLst/>
          </a:prstGeom>
          <a:solidFill>
            <a:srgbClr val="2E75B6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226771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PASSO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737360" y="2450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Vetor do candidato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30175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vira o mesmo vetor normalizado da base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61688" y="1828800"/>
            <a:ext cx="35661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636008" y="2103120"/>
            <a:ext cx="685800" cy="685800"/>
          </a:xfrm>
          <a:prstGeom prst="ellipse">
            <a:avLst/>
          </a:prstGeom>
          <a:solidFill>
            <a:srgbClr val="2E75B6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2677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58968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PASSO 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458968" y="2450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Distância euclidiana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636008" y="30175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a distância a todos os participantes do mesmo nível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083296" y="1828800"/>
            <a:ext cx="35661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3"/>
          <p:cNvSpPr/>
          <p:nvPr/>
        </p:nvSpPr>
        <p:spPr>
          <a:xfrm>
            <a:off x="8357616" y="2103120"/>
            <a:ext cx="685800" cy="685800"/>
          </a:xfrm>
          <a:prstGeom prst="ellipse">
            <a:avLst/>
          </a:prstGeom>
          <a:solidFill>
            <a:srgbClr val="2E75B6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08" y="226771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80576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PASSO 3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9180576" y="2450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 mais próximos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357616" y="30175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 os vizinhos de menor distância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40080" y="4114800"/>
            <a:ext cx="5440680" cy="178308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18"/>
          <p:cNvSpPr/>
          <p:nvPr/>
        </p:nvSpPr>
        <p:spPr>
          <a:xfrm>
            <a:off x="86868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Nota esperada  ·  regressão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68680" y="4709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CE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das notas dos k vizinhos em cada área (LC, CH, MT, CN e redação).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172200" y="4114800"/>
            <a:ext cx="5440680" cy="17830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1"/>
          <p:cNvSpPr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Risco de reprovação  ·  classificação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6400800" y="4709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Proporção de vizinhos aprovados por área → risco BAIXO, MÉDIO ou ALTO.</a:t>
            </a:r>
            <a:endParaRPr lang="en-US" sz="1450" dirty="0"/>
          </a:p>
        </p:txBody>
      </p:sp>
      <p:sp>
        <p:nvSpPr>
          <p:cNvPr id="28" name="Text 23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DEMONSTRAÇÃO NA INTERFACE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entrada do gestor ao resultado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7040880" cy="228600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esperada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média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Aprov. vizinhos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Linguagens e Códigos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Ciências Humanas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Matemática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Ciências da Natureza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572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mulher, 31–35 anos, CE, trabalha, Ensino Médio.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955280" y="1874520"/>
            <a:ext cx="3611880" cy="1097280"/>
          </a:xfrm>
          <a:prstGeom prst="rect">
            <a:avLst/>
          </a:prstGeom>
          <a:solidFill>
            <a:srgbClr val="1E8E3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955280" y="2011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RISCO BAIXO</a:t>
            </a:r>
            <a:endParaRPr lang="en-US" sz="2200" dirty="0"/>
          </a:p>
        </p:txBody>
      </p:sp>
      <p:sp>
        <p:nvSpPr>
          <p:cNvPr id="4" name="Text 5"/>
          <p:cNvSpPr/>
          <p:nvPr/>
        </p:nvSpPr>
        <p:spPr>
          <a:xfrm>
            <a:off x="7955280" y="2468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esperada ~3,5 / 4 áreas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955280" y="3154680"/>
            <a:ext cx="3611880" cy="173736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8138160" y="3273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Recomendação ao gestor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38160" y="3611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de maior atenção: Matemática (73%)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ritmo e monitorar pontos frágeis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5120640"/>
            <a:ext cx="10927080" cy="822960"/>
          </a:xfrm>
          <a:prstGeom prst="rect">
            <a:avLst/>
          </a:prstGeom>
          <a:solidFill>
            <a:srgbClr val="DCE6F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868680" y="5230368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gravação: abrir o app, preencher um perfil de ALTO risco e outro de BAIXO risco, e mostrar as recomendações mudando.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modelo acerta — e por quê isso importa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828800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1371600" y="5074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15 escolhido (erro estabiliza)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040880" y="1828800"/>
            <a:ext cx="4526280" cy="1600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040880" y="196596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~87%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7040880" y="27889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CE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 na previsão de aprovação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040880" y="3611880"/>
            <a:ext cx="219456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704088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±12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7178040" y="44348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erro médio (escala 0–180)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72600" y="3611880"/>
            <a:ext cx="219456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937260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9509760" y="44348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nota usados — só perfil socioeconômico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40880" y="548640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Achado-chave: só o perfil socioeconômico já antecipa a aprovação com ~87% de acerto.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DADO À DECISÃO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o gestor ganha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777240" cy="777240"/>
          </a:xfrm>
          <a:prstGeom prst="ellipse">
            <a:avLst/>
          </a:prstGeom>
          <a:solidFill>
            <a:srgbClr val="2E75B6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93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Triagem na matrícula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74520" y="26517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 cada aluno em risco baixo, médio ou alto antes da 1ª aula.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828800"/>
            <a:ext cx="53949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6446520" y="2148840"/>
            <a:ext cx="777240" cy="777240"/>
          </a:xfrm>
          <a:prstGeom prst="ellipse">
            <a:avLst/>
          </a:prstGeom>
          <a:solidFill>
            <a:srgbClr val="1F4E79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058" y="233537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Reforço direcionado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406640" y="26517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a disciplina mais crítica e onde investir horas de reforço.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3840480"/>
            <a:ext cx="53949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Shape 11"/>
          <p:cNvSpPr/>
          <p:nvPr/>
        </p:nvSpPr>
        <p:spPr>
          <a:xfrm>
            <a:off x="914400" y="4160520"/>
            <a:ext cx="777240" cy="777240"/>
          </a:xfrm>
          <a:prstGeom prst="ellipse">
            <a:avLst/>
          </a:prstGeom>
          <a:solidFill>
            <a:srgbClr val="2E75B6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938" y="434705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Alocação eficiente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874520" y="4663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 a distribuir turmas, professores e acompanhamento individual.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72200" y="3840480"/>
            <a:ext cx="53949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CE6F4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5"/>
          <p:cNvSpPr/>
          <p:nvPr/>
        </p:nvSpPr>
        <p:spPr>
          <a:xfrm>
            <a:off x="6446520" y="4160520"/>
            <a:ext cx="777240" cy="777240"/>
          </a:xfrm>
          <a:prstGeom prst="ellipse">
            <a:avLst/>
          </a:prstGeom>
          <a:solidFill>
            <a:srgbClr val="1F4E79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3058" y="43470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Decisão baseada em evidência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406640" y="4663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 o "achismo" pelo histórico de candidatos semelhantes.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840480"/>
            <a:ext cx="5486400" cy="54864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9601200" y="-1828800"/>
            <a:ext cx="4572000" cy="4572000"/>
          </a:xfrm>
          <a:prstGeom prst="ellipse">
            <a:avLst/>
          </a:prstGeom>
          <a:solidFill>
            <a:srgbClr val="2E75B6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DCE6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 RESUMO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SAD que transforma os microdados do ENCCEJA em apoio à decisão pedagógica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K-NN estima nota e risco a partir do perfil socioeconômico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~87% de acerto na aprovação usando só o perfil — o sinal está no dado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 automáticas direcionam reforço e acompanhamento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4617720"/>
            <a:ext cx="640080" cy="640080"/>
          </a:xfrm>
          <a:prstGeom prst="ellipse">
            <a:avLst/>
          </a:prstGeom>
          <a:solidFill>
            <a:srgbClr val="E8A100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47713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461772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DCE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Limitações: a base traz só quem concluiu o exame (viés de aprovação) e o perfil explica parte, não tudo, do desempenho.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1785</Words>
  <Application>Microsoft Office PowerPoint</Application>
  <PresentationFormat>Widescreen</PresentationFormat>
  <Paragraphs>209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SAD ENCCEJA — K-NN</dc:title>
  <dc:subject>PptxGenJS Presentation</dc:subject>
  <dc:creator>Manoelito</dc:creator>
  <cp:lastModifiedBy>Manoelito Holanda Castelo Matos</cp:lastModifiedBy>
  <cp:revision>3</cp:revision>
  <dcterms:created xsi:type="dcterms:W3CDTF">2026-05-31T18:03:06Z</dcterms:created>
  <dcterms:modified xsi:type="dcterms:W3CDTF">2026-05-31T18:59:24Z</dcterms:modified>
</cp:coreProperties>
</file>